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112" y="457200"/>
            <a:ext cx="1188720" cy="12618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783080"/>
            <a:ext cx="1036015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42A4E"/>
                </a:solidFill>
              </a:defRPr>
            </a:pPr>
            <a:r>
              <a:t>IILM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2316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 b="1">
                <a:solidFill>
                  <a:srgbClr val="3269B4"/>
                </a:solidFill>
              </a:defRPr>
            </a:pPr>
            <a:r>
              <a:t>SMART CITY TRAFFIC PATTERN</a:t>
            </a:r>
            <a:br/>
            <a:r>
              <a:t>FORECASTING USING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566160"/>
            <a:ext cx="941832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900"/>
              </a:spcAft>
              <a:defRPr sz="1600">
                <a:solidFill>
                  <a:srgbClr val="2D323A"/>
                </a:solidFill>
              </a:defRPr>
            </a:pPr>
            <a:r>
              <a:t>Student Name: YASH ARVIND</a:t>
            </a:r>
          </a:p>
          <a:p>
            <a:pPr algn="ctr">
              <a:spcAft>
                <a:spcPts val="900"/>
              </a:spcAft>
              <a:defRPr sz="1600">
                <a:solidFill>
                  <a:srgbClr val="2D323A"/>
                </a:solidFill>
              </a:defRPr>
            </a:pPr>
            <a:r>
              <a:t>Enrollment Number: 25SCS1003002423</a:t>
            </a:r>
          </a:p>
          <a:p>
            <a:pPr algn="ctr">
              <a:spcAft>
                <a:spcPts val="900"/>
              </a:spcAft>
              <a:defRPr sz="1400">
                <a:solidFill>
                  <a:srgbClr val="2D323A"/>
                </a:solidFill>
              </a:defRPr>
            </a:pPr>
            <a:r>
              <a:t>Program &amp; Semester: B.Tech CSE (AIML) — 2nd Year, 3rd Semester</a:t>
            </a:r>
          </a:p>
          <a:p>
            <a:pPr algn="ctr">
              <a:spcAft>
                <a:spcPts val="900"/>
              </a:spcAft>
              <a:defRPr sz="1400">
                <a:solidFill>
                  <a:srgbClr val="2D323A"/>
                </a:solidFill>
              </a:defRPr>
            </a:pPr>
            <a:r>
              <a:t>Organization Name: Codec Technologies Pvt. Ltd.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ptos Display"/>
              </a:defRPr>
            </a:pPr>
            <a:r>
              <a:t>Internship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</a:defRPr>
            </a:pPr>
            <a:r>
              <a:t>Yash Arvind  |  25SCS1003002423  |  IILM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3383280" cy="155448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80160"/>
            <a:ext cx="64008" cy="155448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444751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2A4E"/>
                </a:solidFill>
              </a:defRPr>
            </a:pPr>
            <a: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38528"/>
            <a:ext cx="30175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323A"/>
                </a:solidFill>
              </a:defRPr>
            </a:pPr>
            <a:r>
              <a:t>Codec Technologies Pvt. Ltd.</a:t>
            </a:r>
            <a:br/>
            <a:r>
              <a:t>Artificial Intelligence Intern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280160"/>
            <a:ext cx="3383280" cy="155448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280160"/>
            <a:ext cx="64008" cy="155448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444751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2A4E"/>
                </a:solidFill>
              </a:defRPr>
            </a:pPr>
            <a: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1938528"/>
            <a:ext cx="30175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323A"/>
                </a:solidFill>
              </a:defRPr>
            </a:pPr>
            <a:r>
              <a:t>20 July 2026 – 20 August 2026</a:t>
            </a:r>
            <a:br/>
            <a:r>
              <a:t>1 Month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280160"/>
            <a:ext cx="3383280" cy="155448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64008" cy="155448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444751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2A4E"/>
                </a:solidFill>
              </a:defRPr>
            </a:pPr>
            <a:r>
              <a:t>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1938528"/>
            <a:ext cx="30175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323A"/>
                </a:solidFill>
              </a:defRPr>
            </a:pPr>
            <a:r>
              <a:t>Pan India, Hybrid</a:t>
            </a:r>
            <a:br/>
            <a:r>
              <a:t>Assigned project head(s)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246120"/>
            <a:ext cx="5212080" cy="192024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3246120"/>
            <a:ext cx="64008" cy="192024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410712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2A4E"/>
                </a:solidFill>
              </a:defRPr>
            </a:pPr>
            <a:r>
              <a:t>Internship Focus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904487"/>
            <a:ext cx="484632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323A"/>
                </a:solidFill>
              </a:defRPr>
            </a:pPr>
            <a:r>
              <a:t>Foundational Artificial Intelligence and Machine Learning learning followed by practical project implementation.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246120"/>
            <a:ext cx="5212080" cy="192024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3246120"/>
            <a:ext cx="64008" cy="192024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410712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2A4E"/>
                </a:solidFill>
              </a:defRPr>
            </a:pPr>
            <a:r>
              <a:t>Selected Project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904487"/>
            <a:ext cx="484632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323A"/>
                </a:solidFill>
              </a:defRPr>
            </a:pPr>
            <a:r>
              <a:t>Smart City Traffic Pattern Forecasting using historical traffic observations and Machine Learning.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ptos Display"/>
              </a:defRPr>
            </a:pPr>
            <a:r>
              <a:t>Organization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</a:defRPr>
            </a:pPr>
            <a:r>
              <a:t>Yash Arvind  |  25SCS1003002423  |  IILM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Codec Technologies Pvt. Ltd. provided the one-month Artificial Intelligence internship.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The internship offer describes the organization as an IT and business consultancy platform operating across multiple countries.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Designation: Artificial Intelligence Intern.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Internship mode: Pan India, Hybrid.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Reporting: Assigned Project Head(s).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Program Manager named on the completion certificate: Dr. Anurag Shrivastava.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ptos Display"/>
              </a:defRPr>
            </a:pPr>
            <a:r>
              <a:t>Project Introduction &amp;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</a:defRPr>
            </a:pPr>
            <a:r>
              <a:t>Yash Arvind  |  25SCS1003002423  |  IILM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57800" cy="1874519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25880"/>
            <a:ext cx="64008" cy="1874519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490472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2A4E"/>
                </a:solidFill>
              </a:defRPr>
            </a:pPr>
            <a: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84248"/>
            <a:ext cx="4892040" cy="10972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323A"/>
                </a:solidFill>
              </a:defRPr>
            </a:pPr>
            <a:r>
              <a:t>Traffic volume varies by hour, day, and junction. Manual estimation from historical records becomes difficult as data grows.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25880"/>
            <a:ext cx="5257800" cy="1874519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25880"/>
            <a:ext cx="64008" cy="1874519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90472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2A4E"/>
                </a:solidFill>
              </a:defRPr>
            </a:pPr>
            <a:r>
              <a:t>Proposed Approach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984248"/>
            <a:ext cx="4892040" cy="10972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323A"/>
                </a:solidFill>
              </a:defRPr>
            </a:pPr>
            <a:r>
              <a:t>Use historical traffic observations and timestamp-derived features to train a regression model that forecasts vehicle counts.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566160"/>
            <a:ext cx="10744200" cy="141732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566160"/>
            <a:ext cx="64008" cy="1417320"/>
          </a:xfrm>
          <a:prstGeom prst="rect">
            <a:avLst/>
          </a:prstGeom>
          <a:solidFill>
            <a:srgbClr val="2C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30752"/>
            <a:ext cx="10378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2A4E"/>
                </a:solidFill>
              </a:defRPr>
            </a:pPr>
            <a:r>
              <a:t>Prediction Task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24528"/>
            <a:ext cx="10378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323A"/>
                </a:solidFill>
              </a:defRPr>
            </a:pPr>
            <a:r>
              <a:t>Junction + DateTime-derived features  →  Predicted Number of Vehicles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03520"/>
            <a:ext cx="10744200" cy="658368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5303520"/>
            <a:ext cx="64008" cy="658368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468112"/>
            <a:ext cx="10378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2A4E"/>
                </a:solidFill>
              </a:defRPr>
            </a:pPr>
            <a:r>
              <a:t>Dataset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961888"/>
            <a:ext cx="10378440" cy="-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323A"/>
                </a:solidFill>
              </a:defRPr>
            </a:pPr>
            <a:r>
              <a:t>48,120 training records • 11,808 test records • 4 junctions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ptos Display"/>
              </a:defRPr>
            </a:pPr>
            <a:r>
              <a:t>Objectives and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</a:defRPr>
            </a:pPr>
            <a:r>
              <a:t>Yash Arvind  |  25SCS1003002423  |  IILM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Understand and prepare the supplied traffic dataset.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Extract useful temporal information from DateTime.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Create calendar and cyclical time features and encode junction information.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Compare regression algorithms using MAE, RMSE, and R².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Select the best-performing model and generate test predictions.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Document the implementation, results, limitations, and future improvements.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ptos Display"/>
              </a:defRPr>
            </a:pPr>
            <a:r>
              <a:t>Dataset &amp; 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</a:defRPr>
            </a:pPr>
            <a:r>
              <a:t>Yash Arvind  |  25SCS1003002423  |  IILM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3474720" cy="438912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64008" cy="438912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99032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2A4E"/>
                </a:solidFill>
              </a:defRPr>
            </a:pPr>
            <a: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92808"/>
            <a:ext cx="3108960" cy="36118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323A"/>
                </a:solidFill>
              </a:defRPr>
            </a:pPr>
            <a:r>
              <a:t>Training: 48,120 records</a:t>
            </a:r>
            <a:br/>
            <a:r>
              <a:t>Test: 11,808 records</a:t>
            </a:r>
            <a:br/>
            <a:br/>
            <a:r>
              <a:t>Fields:</a:t>
            </a:r>
            <a:br/>
            <a:r>
              <a:t>DateTime</a:t>
            </a:r>
            <a:br/>
            <a:r>
              <a:t>Junction</a:t>
            </a:r>
            <a:br/>
            <a:r>
              <a:t>Vehicles</a:t>
            </a:r>
            <a:br/>
            <a:r>
              <a:t>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234440"/>
            <a:ext cx="3474720" cy="438912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64008" cy="438912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99032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2A4E"/>
                </a:solidFill>
              </a:defRPr>
            </a:pPr>
            <a:r>
              <a:t>Calendar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892808"/>
            <a:ext cx="3108960" cy="36118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323A"/>
                </a:solidFill>
              </a:defRPr>
            </a:pPr>
            <a:r>
              <a:t>Year</a:t>
            </a:r>
            <a:br/>
            <a:r>
              <a:t>Month</a:t>
            </a:r>
            <a:br/>
            <a:r>
              <a:t>Day</a:t>
            </a:r>
            <a:br/>
            <a:r>
              <a:t>Hour</a:t>
            </a:r>
            <a:br/>
            <a:r>
              <a:t>Day of week</a:t>
            </a:r>
            <a:br/>
            <a:r>
              <a:t>Week of year</a:t>
            </a:r>
            <a:br/>
            <a:r>
              <a:t>Day of year</a:t>
            </a:r>
            <a:br/>
            <a:r>
              <a:t>Weekend indicator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234440"/>
            <a:ext cx="3474720" cy="438912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64008" cy="438912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399032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2A4E"/>
                </a:solidFill>
              </a:defRPr>
            </a:pPr>
            <a:r>
              <a:t>Cyclical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1892808"/>
            <a:ext cx="3108960" cy="36118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323A"/>
                </a:solidFill>
              </a:defRPr>
            </a:pPr>
            <a:r>
              <a:t>Hour sine / cosine</a:t>
            </a:r>
            <a:br/>
            <a:r>
              <a:t>Day-of-week sine / cosine</a:t>
            </a:r>
            <a:br/>
            <a:br/>
            <a:r>
              <a:t>These represent repeating daily and weekly patterns.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ptos Display"/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</a:defRPr>
            </a:pPr>
            <a:r>
              <a:t>Yash Arvind  |  25SCS1003002423  |  IILM University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1051560"/>
            <a:ext cx="827532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ptos Display"/>
              </a:defRPr>
            </a:pPr>
            <a: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</a:defRPr>
            </a:pPr>
            <a:r>
              <a:t>Yash Arvind  |  25SCS1003002423  |  IILM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Data preparation — load training and test data and parse DateTime.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Feature engineering — derive calendar, weekend, and cyclical time features.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Preprocessing — encode Junction and apply a consistent ML pipeline.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Model training — Linear Regression, Gradient Boosting, and Random Forest.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Validation — final 30 days of training data used as chronological validation.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Evaluation — compare MAE, RMSE, and R², then select the best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ptos Display"/>
              </a:defRPr>
            </a:pPr>
            <a:r>
              <a:t>Model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</a:defRPr>
            </a:pPr>
            <a: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</a:defRPr>
            </a:pPr>
            <a:r>
              <a:t>Yash Arvind  |  25SCS1003002423  |  IILM University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1371600"/>
          <a:ext cx="103327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180"/>
                <a:gridCol w="2583180"/>
                <a:gridCol w="2583180"/>
                <a:gridCol w="2583180"/>
              </a:tblGrid>
              <a:tr h="6172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42A4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MAE</a:t>
                      </a:r>
                    </a:p>
                  </a:txBody>
                  <a:tcPr>
                    <a:solidFill>
                      <a:srgbClr val="142A4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142A4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R²</a:t>
                      </a:r>
                    </a:p>
                  </a:txBody>
                  <a:tcPr>
                    <a:solidFill>
                      <a:srgbClr val="142A4E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0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</a:defRPr>
                      </a:pPr>
                      <a:r>
                        <a:t>3.7753</a:t>
                      </a:r>
                    </a:p>
                  </a:txBody>
                  <a:tcPr>
                    <a:solidFill>
                      <a:srgbClr val="F0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</a:defRPr>
                      </a:pPr>
                      <a:r>
                        <a:t>6.5125</a:t>
                      </a:r>
                    </a:p>
                  </a:txBody>
                  <a:tcPr>
                    <a:solidFill>
                      <a:srgbClr val="F0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</a:defRPr>
                      </a:pPr>
                      <a:r>
                        <a:t>0.9514</a:t>
                      </a:r>
                    </a:p>
                  </a:txBody>
                  <a:tcPr>
                    <a:solidFill>
                      <a:srgbClr val="F0F6FD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</a:defRPr>
                      </a:pPr>
                      <a:r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</a:defRPr>
                      </a:pPr>
                      <a:r>
                        <a:t>6.4846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</a:defRPr>
                      </a:pPr>
                      <a:r>
                        <a:t>10.4628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</a:defRPr>
                      </a:pPr>
                      <a:r>
                        <a:t>0.8745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</a:defRPr>
                      </a:pPr>
                      <a: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</a:defRPr>
                      </a:pPr>
                      <a:r>
                        <a:t>10.2147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</a:defRPr>
                      </a:pPr>
                      <a:r>
                        <a:t>15.6203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</a:defRPr>
                      </a:pPr>
                      <a:r>
                        <a:t>0.7203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14400" y="4297680"/>
            <a:ext cx="10332720" cy="105156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4297680"/>
            <a:ext cx="64008" cy="1051560"/>
          </a:xfrm>
          <a:prstGeom prst="rect">
            <a:avLst/>
          </a:prstGeom>
          <a:solidFill>
            <a:srgbClr val="2C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462272"/>
            <a:ext cx="9966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2A4E"/>
                </a:solidFill>
              </a:defRPr>
            </a:pPr>
            <a:r>
              <a:t>Selected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956048"/>
            <a:ext cx="9966960" cy="2743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323A"/>
                </a:solidFill>
              </a:defRPr>
            </a:pPr>
            <a:r>
              <a:t>Random Forest Regression — strongest validation performance across all three metrics.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ptos Display"/>
              </a:defRPr>
            </a:pPr>
            <a:r>
              <a:t>Performance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</a:defRPr>
            </a:pPr>
            <a:r>
              <a:t>Yash Arvind  |  25SCS1003002423  |  IILM University</a:t>
            </a:r>
          </a:p>
        </p:txBody>
      </p:sp>
      <p:pic>
        <p:nvPicPr>
          <p:cNvPr id="7" name="Picture 6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5394960" cy="3371850"/>
          </a:xfrm>
          <a:prstGeom prst="rect">
            <a:avLst/>
          </a:prstGeom>
        </p:spPr>
      </p:pic>
      <p:pic>
        <p:nvPicPr>
          <p:cNvPr id="8" name="Picture 7" descr="actual_vs_predi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88720"/>
            <a:ext cx="5394960" cy="46242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14400" y="5349240"/>
            <a:ext cx="10287000" cy="713232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5349240"/>
            <a:ext cx="64008" cy="713232"/>
          </a:xfrm>
          <a:prstGeom prst="rect">
            <a:avLst/>
          </a:prstGeom>
          <a:solidFill>
            <a:srgbClr val="2C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5513831"/>
            <a:ext cx="9921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2A4E"/>
                </a:solidFill>
              </a:defRPr>
            </a:pPr>
            <a:r>
              <a:t>Key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6007607"/>
            <a:ext cx="9921240" cy="-640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323A"/>
                </a:solidFill>
              </a:defRPr>
            </a:pPr>
            <a:r>
              <a:t>Random Forest: MAE 3.7753  |  RMSE 6.5125  |  R² 0.9514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ptos Display"/>
              </a:defRPr>
            </a:pPr>
            <a:r>
              <a:t>Implementation &amp;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</a:defRPr>
            </a:pPr>
            <a:r>
              <a:t>Yash Arvind  |  25SCS1003002423  |  IILM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Implemented in Python using Pandas, NumPy, Scikit-learn, and Matplotlib.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Time-based and categorical features are processed through a unified pipeline.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Random Forest was retrained on the complete training dataset after validation.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Predictions were generated for all 11,808 test records.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Code, results, visualizations, and prediction output are maintained in GitHub.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3269B4"/>
                </a:solidFill>
              </a:defRPr>
            </a:pPr>
            <a:r>
              <a:t>github.com/Dyza-CZN/Smart-City-Traffic-Forecasting--UpskillCampus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ptos Display"/>
              </a:defRPr>
            </a:pPr>
            <a:r>
              <a:t>Learnings &amp;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</a:defRPr>
            </a:pPr>
            <a:r>
              <a:t>Yash Arvind  |  25SCS1003002423  |  IILM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234440"/>
            <a:ext cx="5257800" cy="448056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64008" cy="44805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399032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2A4E"/>
                </a:solidFill>
              </a:defRPr>
            </a:pPr>
            <a:r>
              <a:t>Key Learnings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92808"/>
            <a:ext cx="4892040" cy="3703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323A"/>
                </a:solidFill>
              </a:defRPr>
            </a:pPr>
            <a:r>
              <a:t>• Data preprocessing</a:t>
            </a:r>
            <a:br/>
            <a:r>
              <a:t>• Time-based feature engineering</a:t>
            </a:r>
            <a:br/>
            <a:r>
              <a:t>• Regression models</a:t>
            </a:r>
            <a:br/>
            <a:r>
              <a:t>• Model evaluation</a:t>
            </a:r>
            <a:br/>
            <a:r>
              <a:t>• Chronological validation</a:t>
            </a:r>
            <a:br/>
            <a:r>
              <a:t>• End-to-end ML workflow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5257800" cy="448056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64008" cy="44805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399032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2A4E"/>
                </a:solidFill>
              </a:defRPr>
            </a:pPr>
            <a:r>
              <a:t>Future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892808"/>
            <a:ext cx="4892040" cy="3703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323A"/>
                </a:solidFill>
              </a:defRPr>
            </a:pPr>
            <a:r>
              <a:t>• Add weather and event data</a:t>
            </a:r>
            <a:br/>
            <a:r>
              <a:t>• Include holiday information</a:t>
            </a:r>
            <a:br/>
            <a:r>
              <a:t>• Add traffic lag features</a:t>
            </a:r>
            <a:br/>
            <a:r>
              <a:t>• Explore advanced time-series models</a:t>
            </a:r>
            <a:br/>
            <a:r>
              <a:t>• Use larger datasets</a:t>
            </a:r>
            <a:br/>
            <a:r>
              <a:t>• Develop a forecasting dashboard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ptos Display"/>
              </a:defRPr>
            </a:pPr>
            <a: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</a:defRPr>
            </a:pPr>
            <a:r>
              <a:t>Yash Arvind  |  25SCS1003002423  |  IILM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The project developed a Machine Learning workflow for forecasting traffic volume at city junctions.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Timestamp information was transformed into useful calendar and cyclical features.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Random Forest achieved the best validation performance among the tested models.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The final model was trained on the complete training data and used to generate test predictions.</a:t>
            </a:r>
          </a:p>
          <a:p>
            <a:pPr>
              <a:spcAft>
                <a:spcPts val="1200"/>
              </a:spcAft>
              <a:defRPr sz="1800">
                <a:solidFill>
                  <a:srgbClr val="2D323A"/>
                </a:solidFill>
              </a:defRPr>
            </a:pPr>
            <a:r>
              <a:t>The approach can be extended with additional real-world traffic, weather, and event information.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42A4E"/>
                </a:solidFill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