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85779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PREDICTION OF AGRICULTURE CROP PRODUCTION IN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9601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Internship Presentation – Data Science and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IILM University, Greater Noida, U.P.</a:t>
            </a:r>
          </a:p>
          <a:p>
            <a:pPr>
              <a:spcAft>
                <a:spcPts val="1000"/>
              </a:spcAft>
              <a:defRPr sz="1800"/>
            </a:pPr>
            <a:r>
              <a:t>Student: Yash Arvind</a:t>
            </a:r>
          </a:p>
          <a:p>
            <a:pPr>
              <a:spcAft>
                <a:spcPts val="1000"/>
              </a:spcAft>
              <a:defRPr sz="1800"/>
            </a:pPr>
            <a:r>
              <a:t>Enrollment No.: 25SCS1003002423</a:t>
            </a:r>
          </a:p>
          <a:p>
            <a:pPr>
              <a:spcAft>
                <a:spcPts val="1000"/>
              </a:spcAft>
              <a:defRPr sz="1800"/>
            </a:pPr>
            <a:r>
              <a:t>Program: B.Tech CSE (AIML) | 2nd Year, 3rd Semester</a:t>
            </a:r>
          </a:p>
          <a:p>
            <a:pPr>
              <a:spcAft>
                <a:spcPts val="1000"/>
              </a:spcAft>
              <a:defRPr sz="1800"/>
            </a:pPr>
            <a:r>
              <a:t>Organization: UpSkill Campus / UniConverge Technologies Pvt. Ltd.</a:t>
            </a:r>
          </a:p>
          <a:p>
            <a:pPr>
              <a:spcAft>
                <a:spcPts val="1000"/>
              </a:spcAft>
              <a:defRPr sz="1800"/>
            </a:pPr>
            <a:r>
              <a:t>Internship Period: 20-07-2026 to 20-08-2026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IILM University | Yash Arvind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1. Internship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Domain: Data Science and Machine Learning</a:t>
            </a:r>
          </a:p>
          <a:p>
            <a:pPr>
              <a:spcAft>
                <a:spcPts val="1000"/>
              </a:spcAft>
              <a:defRPr sz="1900"/>
            </a:pPr>
            <a:r>
              <a:t>Role: Data Science and Machine Learning Intern</a:t>
            </a:r>
          </a:p>
          <a:p>
            <a:pPr>
              <a:spcAft>
                <a:spcPts val="1000"/>
              </a:spcAft>
              <a:defRPr sz="1900"/>
            </a:pPr>
            <a:r>
              <a:t>Mode: Remote</a:t>
            </a:r>
          </a:p>
          <a:p>
            <a:pPr>
              <a:spcAft>
                <a:spcPts val="1000"/>
              </a:spcAft>
              <a:defRPr sz="1900"/>
            </a:pPr>
            <a:r>
              <a:t>Internship period: 20 July 2026 – 20 August 2026</a:t>
            </a:r>
          </a:p>
          <a:p>
            <a:pPr>
              <a:spcAft>
                <a:spcPts val="1000"/>
              </a:spcAft>
              <a:defRPr sz="1900"/>
            </a:pPr>
            <a:r>
              <a:t>Focus: practical machine learning workflow and an applied crop production prediction project</a:t>
            </a:r>
          </a:p>
          <a:p>
            <a:pPr>
              <a:spcAft>
                <a:spcPts val="1000"/>
              </a:spcAft>
              <a:defRPr sz="1900"/>
            </a:pPr>
            <a:r>
              <a:t>Core workflow: data preparation → feature engineering → model training → evaluation →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IILM University | Yash Arvind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2. Project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Agricultural production varies across crops and years and is influenced by multiple factors.</a:t>
            </a:r>
          </a:p>
          <a:p>
            <a:pPr>
              <a:spcAft>
                <a:spcPts val="1000"/>
              </a:spcAft>
              <a:defRPr sz="2000"/>
            </a:pPr>
            <a:r>
              <a:t>Historical production, cultivated area, and yield records can provide predictive signals.</a:t>
            </a:r>
          </a:p>
          <a:p>
            <a:pPr>
              <a:spcAft>
                <a:spcPts val="1000"/>
              </a:spcAft>
              <a:defRPr sz="2000"/>
            </a:pPr>
            <a:r>
              <a:t>The project frames future production estimation as a supervised regression problem.</a:t>
            </a:r>
          </a:p>
          <a:p>
            <a:pPr>
              <a:spcAft>
                <a:spcPts val="1000"/>
              </a:spcAft>
              <a:defRPr sz="2000"/>
            </a:pPr>
            <a:r>
              <a:t>Goal: estimate the next year’s crop production from the previous year’s agricultural indicators.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IILM University | Yash Arvind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3. Dataset and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55 crop / foodgrain categories</a:t>
            </a:r>
          </a:p>
          <a:p>
            <a:pPr>
              <a:spcAft>
                <a:spcPts val="1000"/>
              </a:spcAft>
              <a:defRPr sz="1800"/>
            </a:pPr>
            <a:r>
              <a:t>Historical period: 2006–07 to 2010–11</a:t>
            </a:r>
          </a:p>
          <a:p>
            <a:pPr>
              <a:spcAft>
                <a:spcPts val="1000"/>
              </a:spcAft>
              <a:defRPr sz="1800"/>
            </a:pPr>
            <a:r>
              <a:t>Original data: production, area, and yield for each year</a:t>
            </a:r>
          </a:p>
          <a:p>
            <a:pPr>
              <a:spcAft>
                <a:spcPts val="1000"/>
              </a:spcAft>
              <a:defRPr sz="1800"/>
            </a:pPr>
            <a:r>
              <a:t>Lag transformation produced 220 supervised samples</a:t>
            </a:r>
          </a:p>
          <a:p>
            <a:pPr>
              <a:spcAft>
                <a:spcPts val="1000"/>
              </a:spcAft>
              <a:defRPr sz="1800"/>
            </a:pPr>
            <a:r>
              <a:t>Input features: Previous Production, Previous Area, Previous Yield + encoded Crop</a:t>
            </a:r>
          </a:p>
          <a:p>
            <a:pPr>
              <a:spcAft>
                <a:spcPts val="1000"/>
              </a:spcAft>
              <a:defRPr sz="1800"/>
            </a:pPr>
            <a:r>
              <a:t>Target: Target Production for the following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IILM University | Yash Arvind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4.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286000"/>
            <a:ext cx="192024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Historical</a:t>
            </a:r>
          </a:p>
          <a:p>
            <a:r>
              <a:t>Agriculture Data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04288" y="2578608"/>
            <a:ext cx="411480" cy="5029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2286000"/>
            <a:ext cx="192024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Preprocessing &amp;</a:t>
            </a:r>
          </a:p>
          <a:p>
            <a:r>
              <a:t>Feature Engineering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681728" y="2578608"/>
            <a:ext cx="411480" cy="5029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0640" y="2286000"/>
            <a:ext cx="192024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Regression</a:t>
            </a:r>
          </a:p>
          <a:p>
            <a:r>
              <a:t>Models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59168" y="2578608"/>
            <a:ext cx="411480" cy="5029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79" y="2286000"/>
            <a:ext cx="192024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Evaluation &amp;</a:t>
            </a:r>
          </a:p>
          <a:p>
            <a:r>
              <a:t>Comparison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436608" y="2578608"/>
            <a:ext cx="411480" cy="5029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0" y="2286000"/>
            <a:ext cx="192024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Production</a:t>
            </a:r>
          </a:p>
          <a:p>
            <a:r>
              <a:t>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IILM University | Yash Arvind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5.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Load and inspect historical agriculture data</a:t>
            </a:r>
          </a:p>
          <a:p>
            <a:pPr>
              <a:spcAft>
                <a:spcPts val="1000"/>
              </a:spcAft>
              <a:defRPr sz="1800"/>
            </a:pPr>
            <a:r>
              <a:t>2. Reshape yearly records into lag-based supervised examples</a:t>
            </a:r>
          </a:p>
          <a:p>
            <a:pPr>
              <a:spcAft>
                <a:spcPts val="1000"/>
              </a:spcAft>
              <a:defRPr sz="1800"/>
            </a:pPr>
            <a:r>
              <a:t>3. Encode crop category and prepare model inputs</a:t>
            </a:r>
          </a:p>
          <a:p>
            <a:pPr>
              <a:spcAft>
                <a:spcPts val="1000"/>
              </a:spcAft>
              <a:defRPr sz="1800"/>
            </a:pPr>
            <a:r>
              <a:t>4. Train Linear Regression, Ridge, Random Forest, and Gradient Boosting</a:t>
            </a:r>
          </a:p>
          <a:p>
            <a:pPr>
              <a:spcAft>
                <a:spcPts val="1000"/>
              </a:spcAft>
              <a:defRPr sz="1800"/>
            </a:pPr>
            <a:r>
              <a:t>5. Evaluate using MAE, RMSE, and R²</a:t>
            </a:r>
          </a:p>
          <a:p>
            <a:pPr>
              <a:spcAft>
                <a:spcPts val="1000"/>
              </a:spcAft>
              <a:defRPr sz="1800"/>
            </a:pPr>
            <a:r>
              <a:t>6. Compare models and select the strongest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IILM University | Yash Arvind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6. Models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Linear Regression – simple and interpretable baseline</a:t>
            </a:r>
          </a:p>
          <a:p>
            <a:pPr>
              <a:spcAft>
                <a:spcPts val="1000"/>
              </a:spcAft>
              <a:defRPr sz="1800"/>
            </a:pPr>
            <a:r>
              <a:t>Ridge Regression – regularized linear model</a:t>
            </a:r>
          </a:p>
          <a:p>
            <a:pPr>
              <a:spcAft>
                <a:spcPts val="1000"/>
              </a:spcAft>
              <a:defRPr sz="1800"/>
            </a:pPr>
            <a:r>
              <a:t>Random Forest Regression – nonlinear ensemble of decision trees</a:t>
            </a:r>
          </a:p>
          <a:p>
            <a:pPr>
              <a:spcAft>
                <a:spcPts val="1000"/>
              </a:spcAft>
              <a:defRPr sz="1800"/>
            </a:pPr>
            <a:r>
              <a:t>Gradient Boosting Regression – sequential boosting of weak learners</a:t>
            </a:r>
          </a:p>
          <a:p>
            <a:pPr>
              <a:spcAft>
                <a:spcPts val="1000"/>
              </a:spcAft>
              <a:defRPr sz="1800"/>
            </a:pPr>
            <a:r>
              <a:t>The comparison tests whether added model complexity improves prediction on the available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IILM University | Yash Arvind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7. Model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17320"/>
          <a:ext cx="102412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  <a:gridCol w="256032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R²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35.1456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57.1770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0.9384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37.8912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57.2286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0.9383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38.6284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66.1728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0.9175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43.9643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85.4855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0.8624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IILM University | Yash Arvind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8. Results – R² Comparison</a:t>
            </a:r>
          </a:p>
        </p:txBody>
      </p:sp>
      <p:pic>
        <p:nvPicPr>
          <p:cNvPr id="3" name="Picture 2" descr="agriculture_model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34440"/>
            <a:ext cx="8503920" cy="5102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IILM University | Yash Arvind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9. Best Model and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Best overall result: Linear Regression</a:t>
            </a:r>
          </a:p>
          <a:p>
            <a:pPr>
              <a:spcAft>
                <a:spcPts val="1000"/>
              </a:spcAft>
              <a:defRPr sz="1900"/>
            </a:pPr>
            <a:r>
              <a:t>MAE: 35.1456</a:t>
            </a:r>
          </a:p>
          <a:p>
            <a:pPr>
              <a:spcAft>
                <a:spcPts val="1000"/>
              </a:spcAft>
              <a:defRPr sz="1900"/>
            </a:pPr>
            <a:r>
              <a:t>RMSE: 57.1770</a:t>
            </a:r>
          </a:p>
          <a:p>
            <a:pPr>
              <a:spcAft>
                <a:spcPts val="1000"/>
              </a:spcAft>
              <a:defRPr sz="1900"/>
            </a:pPr>
            <a:r>
              <a:t>R²: 0.9384</a:t>
            </a:r>
          </a:p>
          <a:p>
            <a:pPr>
              <a:spcAft>
                <a:spcPts val="1000"/>
              </a:spcAft>
              <a:defRPr sz="1900"/>
            </a:pPr>
            <a:r>
              <a:t>Gradient Boosting was close with R² 0.9383, but had slightly higher error.</a:t>
            </a:r>
          </a:p>
          <a:p>
            <a:pPr>
              <a:spcAft>
                <a:spcPts val="1000"/>
              </a:spcAft>
              <a:defRPr sz="1900"/>
            </a:pPr>
            <a:r>
              <a:t>The result suggests a strong relationship between the selected historical indicators and subsequent production in this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IILM University | Yash Arvind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10.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Python</a:t>
            </a:r>
          </a:p>
          <a:p>
            <a:pPr>
              <a:spcAft>
                <a:spcPts val="1000"/>
              </a:spcAft>
              <a:defRPr sz="2000"/>
            </a:pPr>
            <a:r>
              <a:t>Pandas and NumPy – data preparation</a:t>
            </a:r>
          </a:p>
          <a:p>
            <a:pPr>
              <a:spcAft>
                <a:spcPts val="1000"/>
              </a:spcAft>
              <a:defRPr sz="2000"/>
            </a:pPr>
            <a:r>
              <a:t>Scikit-learn – regression models and evaluation</a:t>
            </a:r>
          </a:p>
          <a:p>
            <a:pPr>
              <a:spcAft>
                <a:spcPts val="1000"/>
              </a:spcAft>
              <a:defRPr sz="2000"/>
            </a:pPr>
            <a:r>
              <a:t>Matplotlib – visualization</a:t>
            </a:r>
          </a:p>
          <a:p>
            <a:pPr>
              <a:spcAft>
                <a:spcPts val="1000"/>
              </a:spcAft>
              <a:defRPr sz="2000"/>
            </a:pPr>
            <a:r>
              <a:t>Git and GitHub – project version control and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IILM University | Yash Arvind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11. Key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Built an end-to-end supervised learning workflow</a:t>
            </a:r>
          </a:p>
          <a:p>
            <a:pPr>
              <a:spcAft>
                <a:spcPts val="1000"/>
              </a:spcAft>
              <a:defRPr sz="1800"/>
            </a:pPr>
            <a:r>
              <a:t>Learned practical lag-based feature engineering</a:t>
            </a:r>
          </a:p>
          <a:p>
            <a:pPr>
              <a:spcAft>
                <a:spcPts val="1000"/>
              </a:spcAft>
              <a:defRPr sz="1800"/>
            </a:pPr>
            <a:r>
              <a:t>Compared models using MAE, RMSE, and R²</a:t>
            </a:r>
          </a:p>
          <a:p>
            <a:pPr>
              <a:spcAft>
                <a:spcPts val="1000"/>
              </a:spcAft>
              <a:defRPr sz="1800"/>
            </a:pPr>
            <a:r>
              <a:t>Improved understanding of model selection and dataset limitations</a:t>
            </a:r>
          </a:p>
          <a:p>
            <a:pPr>
              <a:spcAft>
                <a:spcPts val="1000"/>
              </a:spcAft>
              <a:defRPr sz="1800"/>
            </a:pPr>
            <a:r>
              <a:t>Strengthened Python, data handling, visualization, and GitHub skills</a:t>
            </a:r>
          </a:p>
          <a:p>
            <a:pPr>
              <a:spcAft>
                <a:spcPts val="1000"/>
              </a:spcAft>
              <a:defRPr sz="1800"/>
            </a:pPr>
            <a:r>
              <a:t>Learned that a simpler model can outperform more complex models on a small structured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IILM University | Yash Arvind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12.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Expand the dataset across more years and regions</a:t>
            </a:r>
          </a:p>
          <a:p>
            <a:pPr>
              <a:spcAft>
                <a:spcPts val="1000"/>
              </a:spcAft>
              <a:defRPr sz="1800"/>
            </a:pPr>
            <a:r>
              <a:t>Add rainfall, temperature, soil, irrigation, fertilizer, and geographic variables</a:t>
            </a:r>
          </a:p>
          <a:p>
            <a:pPr>
              <a:spcAft>
                <a:spcPts val="1000"/>
              </a:spcAft>
              <a:defRPr sz="1800"/>
            </a:pPr>
            <a:r>
              <a:t>Explore time-series and sequence-based models</a:t>
            </a:r>
          </a:p>
          <a:p>
            <a:pPr>
              <a:spcAft>
                <a:spcPts val="1000"/>
              </a:spcAft>
              <a:defRPr sz="1800"/>
            </a:pPr>
            <a:r>
              <a:t>Use stronger chronological cross-validation</a:t>
            </a:r>
          </a:p>
          <a:p>
            <a:pPr>
              <a:spcAft>
                <a:spcPts val="1000"/>
              </a:spcAft>
              <a:defRPr sz="1800"/>
            </a:pPr>
            <a:r>
              <a:t>Build crop- and region-specific forecasts</a:t>
            </a:r>
          </a:p>
          <a:p>
            <a:pPr>
              <a:spcAft>
                <a:spcPts val="1000"/>
              </a:spcAft>
              <a:defRPr sz="1800"/>
            </a:pPr>
            <a:r>
              <a:t>Deploy predictions through a dashboard or API with uncertainty ranges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IILM University | Yash Arvind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13.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The project demonstrated an end-to-end ML approach for agricultural production prediction.</a:t>
            </a:r>
          </a:p>
          <a:p>
            <a:pPr>
              <a:spcAft>
                <a:spcPts val="1000"/>
              </a:spcAft>
              <a:defRPr sz="1900"/>
            </a:pPr>
            <a:r>
              <a:t>Historical production, area, and yield were transformed into supervised features.</a:t>
            </a:r>
          </a:p>
          <a:p>
            <a:pPr>
              <a:spcAft>
                <a:spcPts val="1000"/>
              </a:spcAft>
              <a:defRPr sz="1900"/>
            </a:pPr>
            <a:r>
              <a:t>Four regression models were evaluated quantitatively.</a:t>
            </a:r>
          </a:p>
          <a:p>
            <a:pPr>
              <a:spcAft>
                <a:spcPts val="1000"/>
              </a:spcAft>
              <a:defRPr sz="1900"/>
            </a:pPr>
            <a:r>
              <a:t>Linear Regression achieved the strongest recorded performance: R² 0.9384, MAE 35.1456, RMSE 57.1770.</a:t>
            </a:r>
          </a:p>
          <a:p>
            <a:pPr>
              <a:spcAft>
                <a:spcPts val="1000"/>
              </a:spcAft>
              <a:defRPr sz="1900"/>
            </a:pPr>
            <a:r>
              <a:t>The work provides a practical baseline that can be extended with richer agricultural and environmental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IILM University | Yash Arvind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14. Project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GitHub repository:</a:t>
            </a:r>
          </a:p>
          <a:p>
            <a:pPr>
              <a:spcAft>
                <a:spcPts val="1000"/>
              </a:spcAft>
              <a:defRPr sz="1700"/>
            </a:pPr>
            <a:r>
              <a:t>https://github.com/Dyza-CZN/Agriculture-Crop-Production-ML---UpskillCampus.git</a:t>
            </a:r>
          </a:p>
          <a:p>
            <a:pPr>
              <a:spcAft>
                <a:spcPts val="1000"/>
              </a:spcAft>
              <a:defRPr sz="1700"/>
            </a:pPr>
            <a:r>
              <a:t>The academic submission repository will separately contain the final Internship Report, Internship PPT, and Internship Certificate.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IILM University | Yash Arvind |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